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0a6e0ea8474f8b" /><Relationship Type="http://schemas.openxmlformats.org/officeDocument/2006/relationships/extended-properties" Target="/docProps/app.xml" Id="Rc2d711b246b548d8" /><Relationship Type="http://schemas.openxmlformats.org/officeDocument/2006/relationships/officeDocument" Target="/ppt/presentation.xml" Id="R4b62dd51a92d48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1c81e6f1cb46c8"/>
  </p:sldMasterIdLst>
  <p:notesMasterIdLst>
    <p:notesMasterId xmlns:r="http://schemas.openxmlformats.org/officeDocument/2006/relationships" r:id="R027bb9bf132c459c"/>
  </p:notesMasterIdLst>
  <p:sldIdLst>
    <p:sldId xmlns:r="http://schemas.openxmlformats.org/officeDocument/2006/relationships" id="256" r:id="Re59b431f89fa4491"/>
    <p:sldId xmlns:r="http://schemas.openxmlformats.org/officeDocument/2006/relationships" id="257" r:id="Re2b7f3ab40c24746"/>
    <p:sldId xmlns:r="http://schemas.openxmlformats.org/officeDocument/2006/relationships" id="258" r:id="R083151107c4446fc"/>
    <p:sldId xmlns:r="http://schemas.openxmlformats.org/officeDocument/2006/relationships" id="259" r:id="R5e83a0352576487d"/>
    <p:sldId xmlns:r="http://schemas.openxmlformats.org/officeDocument/2006/relationships" id="260" r:id="Rb2fe58e3c8b94d64"/>
    <p:sldId xmlns:r="http://schemas.openxmlformats.org/officeDocument/2006/relationships" id="261" r:id="R28f57930eac74c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784555e10b4a69" /><Relationship Type="http://schemas.openxmlformats.org/officeDocument/2006/relationships/slideMaster" Target="/ppt/slideMasters/slideMaster1.xml" Id="R601c81e6f1cb46c8" /><Relationship Type="http://schemas.openxmlformats.org/officeDocument/2006/relationships/notesMaster" Target="/ppt/notesMasters/notesMaster1.xml" Id="R027bb9bf132c459c" /><Relationship Type="http://schemas.openxmlformats.org/officeDocument/2006/relationships/presProps" Target="/ppt/presProps.xml" Id="R2b5bd802918f4884" /><Relationship Type="http://schemas.openxmlformats.org/officeDocument/2006/relationships/tableStyles" Target="/ppt/tableStyles.xml" Id="R921d8e3445ec4f60" /><Relationship Type="http://schemas.openxmlformats.org/officeDocument/2006/relationships/slide" Target="/ppt/slides/slide1.xml" Id="Re59b431f89fa4491" /><Relationship Type="http://schemas.openxmlformats.org/officeDocument/2006/relationships/slide" Target="/ppt/slides/slide2.xml" Id="Re2b7f3ab40c24746" /><Relationship Type="http://schemas.openxmlformats.org/officeDocument/2006/relationships/slide" Target="/ppt/slides/slide3.xml" Id="R083151107c4446fc" /><Relationship Type="http://schemas.openxmlformats.org/officeDocument/2006/relationships/slide" Target="/ppt/slides/slide4.xml" Id="R5e83a0352576487d" /><Relationship Type="http://schemas.openxmlformats.org/officeDocument/2006/relationships/slide" Target="/ppt/slides/slide5.xml" Id="Rb2fe58e3c8b94d64" /><Relationship Type="http://schemas.openxmlformats.org/officeDocument/2006/relationships/slide" Target="/ppt/slides/slide6.xml" Id="R28f57930eac7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4fe03d976341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3751dd5614002" /><Relationship Type="http://schemas.openxmlformats.org/officeDocument/2006/relationships/notesMaster" Target="/ppt/notesMasters/notesMaster1.xml" Id="R3b21ac9a844141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241dddfb3e4caa" /><Relationship Type="http://schemas.openxmlformats.org/officeDocument/2006/relationships/notesMaster" Target="/ppt/notesMasters/notesMaster1.xml" Id="Rf018b787c4c342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14cfb231fb405f" /><Relationship Type="http://schemas.openxmlformats.org/officeDocument/2006/relationships/notesMaster" Target="/ppt/notesMasters/notesMaster1.xml" Id="Ra4ed427069fa47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020a2fc015443f" /><Relationship Type="http://schemas.openxmlformats.org/officeDocument/2006/relationships/notesMaster" Target="/ppt/notesMasters/notesMaster1.xml" Id="R3f79347499e74d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2719913d274e7f" /><Relationship Type="http://schemas.openxmlformats.org/officeDocument/2006/relationships/notesMaster" Target="/ppt/notesMasters/notesMaster1.xml" Id="Rc3b720bca03b4c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3c11147e5140e4" /><Relationship Type="http://schemas.openxmlformats.org/officeDocument/2006/relationships/notesMaster" Target="/ppt/notesMasters/notesMaster1.xml" Id="R2ea428a3f72242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e3930414649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cb5a787d5d483a" /><Relationship Type="http://schemas.openxmlformats.org/officeDocument/2006/relationships/slideLayout" Target="/ppt/slideLayouts/slideLayout1.xml" Id="R25cbe38d324b41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cbe38d324b41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3f53c26e44e13" /><Relationship Type="http://schemas.openxmlformats.org/officeDocument/2006/relationships/notesSlide" Target="/ppt/notesSlides/notesSlide1.xml" Id="R59e3177742e54a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239ba47554c7f" /><Relationship Type="http://schemas.openxmlformats.org/officeDocument/2006/relationships/notesSlide" Target="/ppt/notesSlides/notesSlide2.xml" Id="Raba530e7f08640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f1063f6b54e4e" /><Relationship Type="http://schemas.openxmlformats.org/officeDocument/2006/relationships/chart" Target="/ppt/slides/charts/chart1.xml" Id="Rd647148f089c4dc2" /><Relationship Type="http://schemas.openxmlformats.org/officeDocument/2006/relationships/notesSlide" Target="/ppt/notesSlides/notesSlide3.xml" Id="Rb39b37b8c20040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cf661e90c44df" /><Relationship Type="http://schemas.openxmlformats.org/officeDocument/2006/relationships/image" Target="/ppt/media/image.png" Id="R9a625fd795c7437c" /><Relationship Type="http://schemas.openxmlformats.org/officeDocument/2006/relationships/notesSlide" Target="/ppt/notesSlides/notesSlide4.xml" Id="R350eafa487b24d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a978ad0044543" /><Relationship Type="http://schemas.openxmlformats.org/officeDocument/2006/relationships/image" Target="/ppt/media/image2.png" Id="R2bd69e9484b3449a" /><Relationship Type="http://schemas.openxmlformats.org/officeDocument/2006/relationships/notesSlide" Target="/ppt/notesSlides/notesSlide5.xml" Id="Rb9fb8e96807745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e66d3ac1945db" /><Relationship Type="http://schemas.openxmlformats.org/officeDocument/2006/relationships/notesSlide" Target="/ppt/notesSlides/notesSlide6.xml" Id="R4575805fcff447fc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Top Police Stations by Parking Violations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Violations</c:v>
          </c:tx>
          <c:spPr>
            <a:solidFill xmlns:a="http://schemas.openxmlformats.org/drawingml/2006/main">
              <a:srgbClr val="0957D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Upparpet</c:v>
              </c:pt>
              <c:pt idx="1">
                <c:v>Shivajinagar</c:v>
              </c:pt>
              <c:pt idx="2">
                <c:v>Malleshwaram</c:v>
              </c:pt>
              <c:pt idx="3">
                <c:v>HAL Old Airport</c:v>
              </c:pt>
              <c:pt idx="4">
                <c:v>City Market</c:v>
              </c:pt>
              <c:pt idx="5">
                <c:v>Vijayanagara</c:v>
              </c:pt>
            </c:strLit>
          </c:cat>
          <c:val>
            <c:numLit>
              <c:formatCode>General</c:formatCode>
              <c:ptCount val="6"/>
              <c:pt idx="0">
                <c:v>34468</c:v>
              </c:pt>
              <c:pt idx="1">
                <c:v>28044</c:v>
              </c:pt>
              <c:pt idx="2">
                <c:v>22200</c:v>
              </c:pt>
              <c:pt idx="3">
                <c:v>20819</c:v>
              </c:pt>
              <c:pt idx="4">
                <c:v>17646</c:v>
              </c:pt>
              <c:pt idx="5">
                <c:v>14652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816C1-FF4D-4E20-806A-AE53CB06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93F66-FA75-46B3-8DEB-7A030461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213D"/>
                </a:solidFill>
              </a:defRPr>
            </a:pPr>
            <a:r>
              <a:rPr sz="4350" b="1">
                <a:solidFill>
                  <a:srgbClr val="14213D"/>
                </a:solidFill>
              </a:rPr>
              <a:t>ParkPulse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A1BAE-9150-4FF5-8C6D-A430B02C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F6C80"/>
                </a:solidFill>
              </a:defRPr>
            </a:pPr>
            <a:r>
              <a:rPr sz="2100" b="0">
                <a:solidFill>
                  <a:srgbClr val="5F6C80"/>
                </a:solidFill>
              </a:rPr>
              <a:t>Parking Congestion Intelligence for Bengaluru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9EAF9-CDA9-4F3D-B370-663E4B2A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47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3D"/>
                </a:solidFill>
              </a:defRPr>
            </a:pPr>
            <a:r>
              <a:rPr sz="1800" b="0">
                <a:solidFill>
                  <a:srgbClr val="14213D"/>
                </a:solidFill>
              </a:rPr>
              <a:t>Transforms illegal-parking violation records into ranked enforcement zones, daily deployment plans, live simulation, and explainable congestion impact scores.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D107E-4EEE-476F-ADDE-3A9D616E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1049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67884-E013-4247-99F1-362B8676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954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C80"/>
                </a:solidFill>
              </a:defRPr>
            </a:pPr>
            <a:r>
              <a:rPr sz="1200" b="1">
                <a:solidFill>
                  <a:srgbClr val="5F6C80"/>
                </a:solidFill>
              </a:rPr>
              <a:t>Parking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51CEF-2EC5-4D33-B76C-67479880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28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957D0"/>
                </a:solidFill>
              </a:defRPr>
            </a:pPr>
            <a:r>
              <a:rPr sz="2550" b="1">
                <a:solidFill>
                  <a:srgbClr val="0957D0"/>
                </a:solidFill>
              </a:rPr>
              <a:t>2,98,450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E4CB4-8DC4-4C69-89DF-58813593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EAC60-353B-49C7-9FF4-427D2D56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C80"/>
                </a:solidFill>
              </a:defRPr>
            </a:pPr>
            <a:r>
              <a:rPr sz="1200" b="1">
                <a:solidFill>
                  <a:srgbClr val="5F6C80"/>
                </a:solidFill>
              </a:rPr>
              <a:t>Hotspot cells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B60D9-6209-4A6F-84E5-E003C849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62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8C89"/>
                </a:solidFill>
              </a:defRPr>
            </a:pPr>
            <a:r>
              <a:rPr sz="2550" b="1">
                <a:solidFill>
                  <a:srgbClr val="008C89"/>
                </a:solidFill>
              </a:rPr>
              <a:t>8,972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7D2EC-0BBC-4291-8676-C14A96D9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719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224FB-097D-432B-83CC-9B75AF60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C80"/>
                </a:solidFill>
              </a:defRPr>
            </a:pPr>
            <a:r>
              <a:rPr sz="1200" b="1">
                <a:solidFill>
                  <a:srgbClr val="5F6C80"/>
                </a:solidFill>
              </a:rPr>
              <a:t>Priority units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625C9-A785-4ED0-8B91-91CFBF6D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95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B4EFF"/>
                </a:solidFill>
              </a:defRPr>
            </a:pPr>
            <a:r>
              <a:rPr sz="2550" b="1">
                <a:solidFill>
                  <a:srgbClr val="6B4E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40D5-7114-4596-B53B-EF38849B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C80"/>
                </a:solidFill>
              </a:defRPr>
            </a:pPr>
            <a:r>
              <a:rPr sz="1050" b="0">
                <a:solidFill>
                  <a:srgbClr val="5F6C80"/>
                </a:solidFill>
              </a:rPr>
              <a:t>Flipkart Gridlock Hackathon | Poor Visibility on Parking-Induced Congestion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58B54-EC34-4BCA-90D2-E153906C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C80"/>
                </a:solidFill>
              </a:defRPr>
            </a:pPr>
            <a:r>
              <a:rPr sz="1200" b="1">
                <a:solidFill>
                  <a:srgbClr val="5F6C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6715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CEA2DF-2EE0-4550-8EB2-C3C2BB1D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57D0"/>
                </a:solidFill>
              </a:defRPr>
            </a:pPr>
            <a:r>
              <a:rPr sz="1200" b="1">
                <a:solidFill>
                  <a:srgbClr val="0957D0"/>
                </a:solidFill>
              </a:rPr>
              <a:t>PARKPULSE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D44F4-672F-4CFD-AD04-085DB415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Why Parking Visibility Fails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C45C1-96A1-4942-AF46-6828FD4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57D0"/>
          </a:solidFill>
          <a:ln xmlns:a="http://schemas.openxmlformats.org/drawingml/2006/main" w="9525">
            <a:solidFill>
              <a:srgbClr val="0957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7FE0C-F904-4666-BF89-D0535E42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Illegal parking blocks carriageways near markets, metro stations, junctions, and commercial corridors.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31C18-4949-407A-A035-C7C53028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57D0"/>
          </a:solidFill>
          <a:ln xmlns:a="http://schemas.openxmlformats.org/drawingml/2006/main" w="9525">
            <a:solidFill>
              <a:srgbClr val="095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BD705-9B00-4733-A30A-1FFB2D39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Patrol-led enforcement often sees symptoms only after congestion has already formed.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C2CC2-0B39-4F27-AF79-848352DF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57D0"/>
          </a:solidFill>
          <a:ln xmlns:a="http://schemas.openxmlformats.org/drawingml/2006/main" w="9525">
            <a:solidFill>
              <a:srgbClr val="095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17F15-6D7A-4FEE-96A5-58EBB640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Violation counts alone do not reveal which locations create the highest traffic-flow impact.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BC956-FA5A-40EA-AB02-4522A9A6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57D0"/>
          </a:solidFill>
          <a:ln xmlns:a="http://schemas.openxmlformats.org/drawingml/2006/main" w="9525">
            <a:solidFill>
              <a:srgbClr val="095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70E70-9ABB-4F62-BFC8-9C45F7D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Police teams need a ranked view of where to deploy, when to deploy, and what action to take.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21880-D1AE-42B5-9D71-C7D4B69A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2857500" cy="3048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8E5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D3A24-819E-4FAA-A866-FD2733EC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Problem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BF7EB-E90A-4FBE-9B3C-FBE7F7E7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051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3D"/>
                </a:solidFill>
              </a:defRPr>
            </a:pPr>
            <a:r>
              <a:rPr sz="1800" b="0">
                <a:solidFill>
                  <a:srgbClr val="14213D"/>
                </a:solidFill>
              </a:rPr>
              <a:t>Detect illegal parking hotspots and quantify their impact on traffic flow to enable targeted enforcement.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32E0B-C54C-4F65-B7DD-6EE85226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C80"/>
                </a:solidFill>
              </a:defRPr>
            </a:pPr>
            <a:r>
              <a:rPr sz="1050" b="0">
                <a:solidFill>
                  <a:srgbClr val="5F6C80"/>
                </a:solidFill>
              </a:rPr>
              <a:t>Flipkart Gridlock Hackathon | Poor Visibility on Parking-Induced Congestion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9FE1A-2664-4214-AB78-6C2B4F89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C80"/>
                </a:solidFill>
              </a:defRPr>
            </a:pPr>
            <a:r>
              <a:rPr sz="1200" b="1">
                <a:solidFill>
                  <a:srgbClr val="5F6C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120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ED4883-B797-44EB-833B-307A8EB9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57D0"/>
                </a:solidFill>
              </a:defRPr>
            </a:pPr>
            <a:r>
              <a:rPr sz="1200" b="1">
                <a:solidFill>
                  <a:srgbClr val="0957D0"/>
                </a:solidFill>
              </a:rPr>
              <a:t>PARKPULSE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F44E1-E3F5-4103-BAA1-38AC9006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Data-Backed Hotspot Intelligence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5334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47148f089c4dc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FB192-24C6-47A4-88F8-4F169753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00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93307-7C8F-46EC-8722-F76B133A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3D"/>
                </a:solidFill>
              </a:defRPr>
            </a:pPr>
            <a:r>
              <a:rPr sz="2100" b="1">
                <a:solidFill>
                  <a:srgbClr val="14213D"/>
                </a:solidFill>
              </a:rPr>
              <a:t>Impact Score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48576-3392-4CEB-A5B3-4CFC6C0D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38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DFBC7-8F47-4DA6-9436-A5233A43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622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Violation density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46E8F-16E3-44DA-8E25-5A24212D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52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9525">
            <a:solidFill>
              <a:srgbClr val="F2A9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A33A9-0807-479E-BD03-E179C779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766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Road-obstruction severity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87C83-FA72-4020-A09B-B79A5D70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67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9"/>
          </a:solidFill>
          <a:ln xmlns:a="http://schemas.openxmlformats.org/drawingml/2006/main" w="9525">
            <a:solidFill>
              <a:srgbClr val="008C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12C2B-19EF-41EE-9FC2-CF57F17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909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Peak-hour recurrence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632F4-B9BF-45FC-AC8B-C1A32CEE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81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57D0"/>
          </a:solidFill>
          <a:ln xmlns:a="http://schemas.openxmlformats.org/drawingml/2006/main" w="9525">
            <a:solidFill>
              <a:srgbClr val="095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8F098-30D4-4DB6-BA6C-DD485275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053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Junction proximity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BC4C3-0359-4549-BA53-9F3EA289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95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E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7D777-D59E-45DC-B8D0-F9714073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196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Evidence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CDD29-4BF7-400F-956F-BDE160A8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C80"/>
                </a:solidFill>
              </a:defRPr>
            </a:pPr>
            <a:r>
              <a:rPr sz="1050" b="0">
                <a:solidFill>
                  <a:srgbClr val="5F6C80"/>
                </a:solidFill>
              </a:rPr>
              <a:t>Flipkart Gridlock Hackathon | Poor Visibility on Parking-Induced Congestion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0F2FA-82FB-45FA-8981-6653AEE5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C80"/>
                </a:solidFill>
              </a:defRPr>
            </a:pPr>
            <a:r>
              <a:rPr sz="1200" b="1">
                <a:solidFill>
                  <a:srgbClr val="5F6C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7709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17F34C-0292-443B-8CAD-1F00EB87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57D0"/>
                </a:solidFill>
              </a:defRPr>
            </a:pPr>
            <a:r>
              <a:rPr sz="1200" b="1">
                <a:solidFill>
                  <a:srgbClr val="0957D0"/>
                </a:solidFill>
              </a:rPr>
              <a:t>PARKPULSE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2BB89-390C-452B-AE70-5317FDDB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Prototype: Operational Command Center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25fd795c7437c"/>
          <a:srcRect xmlns:a="http://schemas.openxmlformats.org/drawingml/2006/main" l="0" t="9434" r="0" b="9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00200"/>
            <a:ext cx="7810500" cy="4400550"/>
          </a:xfrm>
          <a:prstGeom xmlns:a="http://schemas.openxmlformats.org/drawingml/2006/main" prst="roundRect">
            <a:avLst>
              <a:gd name="adj" fmla="val 173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ECB56-A7EB-40A6-8632-3676DE7D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38300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BF06B-903F-419C-9B0B-7A311488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05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What reviewers can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EF7C2-34DE-47CA-A01B-5821B92A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Filter by station, switch live mode, click hotspots, inspect the score, and view the deployment plan.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5E3C7-B638-4DCA-8906-8951A854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FFFA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BCF7A-CEAA-46A9-8655-4FFAED64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814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Top detected zone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14E5F-C996-4D48-8FA9-AE2AC7FB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005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Mahalaxmi Layout Entrance: 366 records, impact score 100.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37269-AFDB-412E-AB88-18B29D0E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1495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8E5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EFC7B-C018-4691-8458-43AB0035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0545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13D"/>
                </a:solidFill>
              </a:defRPr>
            </a:pPr>
            <a:r>
              <a:rPr sz="1200" b="1">
                <a:solidFill>
                  <a:srgbClr val="14213D"/>
                </a:solidFill>
              </a:rPr>
              <a:t>New: before/after risk, daily patrol plan, score explainability, and live mode are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56450-E2C7-4A2F-B8B4-7C53FD1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C80"/>
                </a:solidFill>
              </a:defRPr>
            </a:pPr>
            <a:r>
              <a:rPr sz="1050" b="0">
                <a:solidFill>
                  <a:srgbClr val="5F6C80"/>
                </a:solidFill>
              </a:rPr>
              <a:t>Flipkart Gridlock Hackathon | Poor Visibility on Parking-Induced Congestion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F8550-2E24-4DEC-80D0-A0ABA4F5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C80"/>
                </a:solidFill>
              </a:defRPr>
            </a:pPr>
            <a:r>
              <a:rPr sz="1200" b="1">
                <a:solidFill>
                  <a:srgbClr val="5F6C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882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81A151-210F-495B-B308-2E633AF9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57D0"/>
                </a:solidFill>
              </a:defRPr>
            </a:pPr>
            <a:r>
              <a:rPr sz="1200" b="1">
                <a:solidFill>
                  <a:srgbClr val="0957D0"/>
                </a:solidFill>
              </a:rPr>
              <a:t>PARKPULSE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7E33A-894F-4A4F-9494-1385A645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Live Mode and Before/After Impact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69e9484b3449a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00200"/>
            <a:ext cx="7620000" cy="4286250"/>
          </a:xfrm>
          <a:prstGeom xmlns:a="http://schemas.openxmlformats.org/drawingml/2006/main" prst="roundRect">
            <a:avLst>
              <a:gd name="adj" fmla="val 177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8D4BD-2F00-4AE6-AF7D-835DB2AE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3D"/>
                </a:solidFill>
              </a:defRPr>
            </a:pPr>
            <a:r>
              <a:rPr sz="1575" b="0">
                <a:solidFill>
                  <a:srgbClr val="14213D"/>
                </a:solidFill>
              </a:rPr>
              <a:t>Live simulation mimics incoming parking violation pressure. High-priority hotspots pulse on the map and the weighted risk score updates, giving reviewers a clear operational demo without using any external dataset.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E9056-C4F7-491D-A1F1-7A5691B4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957D0"/>
                </a:solidFill>
              </a:defRPr>
            </a:pPr>
            <a:r>
              <a:rPr sz="1800" b="1">
                <a:solidFill>
                  <a:srgbClr val="0957D0"/>
                </a:solidFill>
              </a:rPr>
              <a:t>The demo stays fully inside the parking-violation theme dataset.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2F62F-1E08-4C76-ACFC-8825BD01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C80"/>
                </a:solidFill>
              </a:defRPr>
            </a:pPr>
            <a:r>
              <a:rPr sz="1050" b="0">
                <a:solidFill>
                  <a:srgbClr val="5F6C80"/>
                </a:solidFill>
              </a:rPr>
              <a:t>Flipkart Gridlock Hackathon | Poor Visibility on Parking-Induced Congestion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EF0D8-8858-45E6-9774-A128DC6B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C80"/>
                </a:solidFill>
              </a:defRPr>
            </a:pPr>
            <a:r>
              <a:rPr sz="1200" b="1">
                <a:solidFill>
                  <a:srgbClr val="5F6C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64460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234E25-DE25-4D98-B76E-152D0136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57D0"/>
                </a:solidFill>
              </a:defRPr>
            </a:pPr>
            <a:r>
              <a:rPr sz="1200" b="1">
                <a:solidFill>
                  <a:srgbClr val="0957D0"/>
                </a:solidFill>
              </a:rPr>
              <a:t>PARKPULSE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CA0B2-9513-4BAB-9508-7DFD9C6B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13D"/>
                </a:solidFill>
              </a:defRPr>
            </a:pPr>
            <a:r>
              <a:rPr sz="2850" b="1">
                <a:solidFill>
                  <a:srgbClr val="14213D"/>
                </a:solidFill>
              </a:rPr>
              <a:t>Six Capabilities Implemented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27070-F9C4-4C87-A71F-A0ABD881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381250" cy="266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89291-6E23-4E2A-ABFE-546C9C14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57D0"/>
          </a:solidFill>
          <a:ln xmlns:a="http://schemas.openxmlformats.org/drawingml/2006/main" w="9525">
            <a:solidFill>
              <a:srgbClr val="0957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3C38E-AE2A-4319-AF9F-91E694D3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1812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E7B7D-F477-42F7-A4AA-C49CB71F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13D"/>
                </a:solidFill>
              </a:defRPr>
            </a:pPr>
            <a:r>
              <a:rPr sz="1950" b="1">
                <a:solidFill>
                  <a:srgbClr val="14213D"/>
                </a:solidFill>
              </a:rPr>
              <a:t>Daily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A5588-6FD1-4C0E-AEE9-D8B73F86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Unit-level deployment plan with patrol window and recommended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DE18E-E499-4257-B45C-CAFD505C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2381250" cy="266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FFA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74149-4017-4132-9134-C25ACA33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57D0"/>
          </a:solidFill>
          <a:ln xmlns:a="http://schemas.openxmlformats.org/drawingml/2006/main" w="9525">
            <a:solidFill>
              <a:srgbClr val="095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0F61E-7732-4B18-9C9E-3D1BEB42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812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42C91-75DF-4479-A6C5-AF2E59AB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003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13D"/>
                </a:solidFill>
              </a:defRPr>
            </a:pPr>
            <a:r>
              <a:rPr sz="1950" b="1">
                <a:solidFill>
                  <a:srgbClr val="14213D"/>
                </a:solidFill>
              </a:rPr>
              <a:t>Explainable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E7B15-EDA8-4D86-9D41-98313044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480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Impact score broken down by density, severity, recurrence, and confidence.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804F1-7750-4A05-8D5E-534972D7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381250" cy="266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C26D0-01DE-477E-A640-B1E97F2E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57D0"/>
          </a:solidFill>
          <a:ln xmlns:a="http://schemas.openxmlformats.org/drawingml/2006/main" w="9525">
            <a:solidFill>
              <a:srgbClr val="095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04FC8-FF87-4EC9-9B86-4AB78F51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812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563A3-FB1E-4057-B9EF-2F066AD8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13D"/>
                </a:solidFill>
              </a:defRPr>
            </a:pPr>
            <a:r>
              <a:rPr sz="1950" b="1">
                <a:solidFill>
                  <a:srgbClr val="14213D"/>
                </a:solidFill>
              </a:rPr>
              <a:t>Hotspot 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E5879-9336-4869-A9E8-A6700EAA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480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Repeat violation zones are ranked for targeted enforcement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52E2E-1025-4420-90FF-3FE0232A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2381250" cy="266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FFA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79275-C471-4FD3-A23F-9C63058F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57D0"/>
          </a:solidFill>
          <a:ln xmlns:a="http://schemas.openxmlformats.org/drawingml/2006/main" w="9525">
            <a:solidFill>
              <a:srgbClr val="095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54F0FA-73B5-4FAE-AFB2-24E2FF04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1812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C239B-A327-486B-AE4F-590814BB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13D"/>
                </a:solidFill>
              </a:defRPr>
            </a:pPr>
            <a:r>
              <a:rPr sz="1950" b="1">
                <a:solidFill>
                  <a:srgbClr val="14213D"/>
                </a:solidFill>
              </a:rPr>
              <a:t>Live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15423-F067-4400-9C9B-11FB3360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Simulated incoming violations pulse on the map and adjust risk priority.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56B9F-C655-45D2-B12D-50319DFF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5775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8E5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22D73E-6217-44AD-91EE-BC4EBA31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67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5. Before/After Simulation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F4F73-DCC9-4847-81D1-5B448252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10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3D"/>
                </a:solidFill>
              </a:defRPr>
            </a:pPr>
            <a:r>
              <a:rPr sz="1275" b="0">
                <a:solidFill>
                  <a:srgbClr val="14213D"/>
                </a:solidFill>
              </a:rPr>
              <a:t>Top 10 clearance addresses 4.4% of weighted risk.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87F74-9DC0-41CA-B3C4-93CF37DA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5775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8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F6053B-6EA7-4FB7-9615-388C658C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67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6. Stronger Pitch 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7FC7D4-D41E-4F42-A1FF-E8A78E43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10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3D"/>
                </a:solidFill>
              </a:defRPr>
            </a:pPr>
            <a:r>
              <a:rPr sz="1275" b="0">
                <a:solidFill>
                  <a:srgbClr val="14213D"/>
                </a:solidFill>
              </a:rPr>
              <a:t>Not just a heatmap: an enforcement decision-support system.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10683-5136-4865-A15F-00EDB4F2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C80"/>
                </a:solidFill>
              </a:defRPr>
            </a:pPr>
            <a:r>
              <a:rPr sz="1050" b="0">
                <a:solidFill>
                  <a:srgbClr val="5F6C80"/>
                </a:solidFill>
              </a:rPr>
              <a:t>Flipkart Gridlock Hackathon | Poor Visibility on Parking-Induced Congestion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5CCD66-87B8-40F9-B3BA-BF01E4E7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F6C80"/>
                </a:solidFill>
              </a:defRPr>
            </a:pPr>
            <a:r>
              <a:rPr sz="1200" b="1">
                <a:solidFill>
                  <a:srgbClr val="5F6C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4032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2026-06-23T09:30:17.7960000Z</dcterms:created>
  <dcterms:modified xsi:type="dcterms:W3CDTF">2026-06-23T09:30:17.7960000Z</dcterms:modified>
</coreProperties>
</file>